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9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297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23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91408"/>
          </a:solidFill>
          <a:ln w="12700">
            <a:solidFill>
              <a:srgbClr val="0914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CAF72"/>
          </a:solidFill>
          <a:ln w="12700">
            <a:solidFill>
              <a:srgbClr val="4CAF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548640"/>
            <a:ext cx="1737360" cy="1737360"/>
          </a:xfrm>
          <a:prstGeom prst="ellipse">
            <a:avLst/>
          </a:prstGeom>
          <a:solidFill>
            <a:srgbClr val="1A3D1E"/>
          </a:solidFill>
          <a:ln w="31750">
            <a:solidFill>
              <a:srgbClr val="4CAF72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841248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242316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AgroSonic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28600" y="30175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4CA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</a:t>
            </a:r>
            <a:endParaRPr lang="en-US" sz="3800" dirty="0"/>
          </a:p>
        </p:txBody>
      </p:sp>
      <p:sp>
        <p:nvSpPr>
          <p:cNvPr id="8" name="Shape 5"/>
          <p:cNvSpPr/>
          <p:nvPr/>
        </p:nvSpPr>
        <p:spPr>
          <a:xfrm>
            <a:off x="228600" y="3639312"/>
            <a:ext cx="2011680" cy="457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37490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IoT-Powered Smart Crop Protection System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28600" y="43891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Sairam Institute  •  2025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206240" y="457200"/>
            <a:ext cx="2103120" cy="411480"/>
          </a:xfrm>
          <a:prstGeom prst="rect">
            <a:avLst/>
          </a:prstGeom>
          <a:solidFill>
            <a:srgbClr val="4CAF72">
              <a:alpha val="25000"/>
            </a:srgbClr>
          </a:solidFill>
          <a:ln w="15240">
            <a:solidFill>
              <a:srgbClr val="4CAF7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06240" y="457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Enabled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583680" y="457200"/>
            <a:ext cx="2103120" cy="411480"/>
          </a:xfrm>
          <a:prstGeom prst="rect">
            <a:avLst/>
          </a:prstGeom>
          <a:solidFill>
            <a:srgbClr val="42A5F5">
              <a:alpha val="25000"/>
            </a:srgbClr>
          </a:solidFill>
          <a:ln w="15240">
            <a:solidFill>
              <a:srgbClr val="42A5F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457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Powered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206240" y="1051560"/>
            <a:ext cx="2103120" cy="411480"/>
          </a:xfrm>
          <a:prstGeom prst="rect">
            <a:avLst/>
          </a:prstGeom>
          <a:solidFill>
            <a:srgbClr val="F9A825">
              <a:alpha val="25000"/>
            </a:srgbClr>
          </a:solidFill>
          <a:ln w="15240">
            <a:solidFill>
              <a:srgbClr val="F9A82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06240" y="1051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583680" y="1051560"/>
            <a:ext cx="2103120" cy="411480"/>
          </a:xfrm>
          <a:prstGeom prst="rect">
            <a:avLst/>
          </a:prstGeom>
          <a:solidFill>
            <a:srgbClr val="66BB6A">
              <a:alpha val="25000"/>
            </a:srgbClr>
          </a:solidFill>
          <a:ln w="15240">
            <a:solidFill>
              <a:srgbClr val="66BB6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0" y="1051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206240" y="16002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system integrating embedded hardware, real-time sensing, and machine learning to provide automated and adaptive protection for agricultural fields.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114800" y="3200400"/>
            <a:ext cx="4663440" cy="1554480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97680" y="33375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CA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hrs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297680" y="37947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Coverage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413248" y="33375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CA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Types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413248" y="37947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Intruder Classes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528816" y="33375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CA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528816" y="37947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MCU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644384" y="33375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CA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7644384" y="37947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A0C"/>
          </a:solidFill>
          <a:ln w="12700">
            <a:solidFill>
              <a:srgbClr val="0A1A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50292"/>
          </a:xfrm>
          <a:prstGeom prst="rect">
            <a:avLst/>
          </a:prstGeom>
          <a:solidFill>
            <a:srgbClr val="4CAF72"/>
          </a:solidFill>
          <a:ln w="12700">
            <a:solidFill>
              <a:srgbClr val="4CA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731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CA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AgroSonic Defence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822960"/>
            <a:ext cx="1005840" cy="1005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777240"/>
            <a:ext cx="5029200" cy="4023360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" y="8412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A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AgroSonic Defence?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1207008"/>
            <a:ext cx="4114800" cy="36576"/>
          </a:xfrm>
          <a:prstGeom prst="rect">
            <a:avLst/>
          </a:prstGeom>
          <a:solidFill>
            <a:srgbClr val="2A4A2E"/>
          </a:solidFill>
          <a:ln w="12700">
            <a:solidFill>
              <a:srgbClr val="2A4A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201168" cy="201168"/>
          </a:xfrm>
          <a:prstGeom prst="ellipse">
            <a:avLst/>
          </a:prstGeom>
          <a:solidFill>
            <a:srgbClr val="4CAF72"/>
          </a:solidFill>
          <a:ln w="12700">
            <a:solidFill>
              <a:srgbClr val="4CAF7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" y="133502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IoT-enabled intelligent crop protection system designed to address agricultural intrusion by animals, birds, and humans.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" y="1865376"/>
            <a:ext cx="201168" cy="201168"/>
          </a:xfrm>
          <a:prstGeom prst="ellipse">
            <a:avLst/>
          </a:prstGeom>
          <a:solidFill>
            <a:srgbClr val="4CAF72"/>
          </a:solidFill>
          <a:ln w="12700">
            <a:solidFill>
              <a:srgbClr val="4CAF7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9808" y="1828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PIR and ultrasonic sensors for continuous field monitoring and movement detection.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" y="2359152"/>
            <a:ext cx="201168" cy="201168"/>
          </a:xfrm>
          <a:prstGeom prst="ellipse">
            <a:avLst/>
          </a:prstGeom>
          <a:solidFill>
            <a:srgbClr val="4CAF72"/>
          </a:solidFill>
          <a:ln w="12700">
            <a:solidFill>
              <a:srgbClr val="4CAF7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" y="232257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microcontroller processes sensor data and runs a lightweight ML model to classify the type of intruder.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57200" y="2852928"/>
            <a:ext cx="201168" cy="201168"/>
          </a:xfrm>
          <a:prstGeom prst="ellipse">
            <a:avLst/>
          </a:prstGeom>
          <a:solidFill>
            <a:srgbClr val="4CAF72"/>
          </a:solidFill>
          <a:ln w="12700">
            <a:solidFill>
              <a:srgbClr val="4CAF7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9808" y="28163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Activates targeted deterrents (specific sound frequencies or visual alerts) based on classification results.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" y="3346704"/>
            <a:ext cx="201168" cy="201168"/>
          </a:xfrm>
          <a:prstGeom prst="ellipse">
            <a:avLst/>
          </a:prstGeom>
          <a:solidFill>
            <a:srgbClr val="4CAF72"/>
          </a:solidFill>
          <a:ln w="12700">
            <a:solidFill>
              <a:srgbClr val="4CAF7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9808" y="33101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integration sends real-time notifications and allows manual farmer control.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57200" y="3840480"/>
            <a:ext cx="201168" cy="201168"/>
          </a:xfrm>
          <a:prstGeom prst="ellipse">
            <a:avLst/>
          </a:prstGeom>
          <a:solidFill>
            <a:srgbClr val="4CAF72"/>
          </a:solidFill>
          <a:ln w="12700">
            <a:solidFill>
              <a:srgbClr val="4CAF7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9808" y="380390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Energy-efficient design operates 12 hours daily during high-risk periods; solar-upgradable.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486400" y="777240"/>
            <a:ext cx="3383280" cy="868680"/>
          </a:xfrm>
          <a:prstGeom prst="rect">
            <a:avLst/>
          </a:prstGeom>
          <a:solidFill>
            <a:srgbClr val="1E3B22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486400" y="777240"/>
            <a:ext cx="73152" cy="86868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992" y="978408"/>
            <a:ext cx="438912" cy="43891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199632" y="868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Systems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199632" y="11887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MCU with real-time sensor processing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5486400" y="1755648"/>
            <a:ext cx="3383280" cy="868680"/>
          </a:xfrm>
          <a:prstGeom prst="rect">
            <a:avLst/>
          </a:prstGeom>
          <a:solidFill>
            <a:srgbClr val="1E3B22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5486400" y="1755648"/>
            <a:ext cx="73152" cy="868680"/>
          </a:xfrm>
          <a:prstGeom prst="rect">
            <a:avLst/>
          </a:prstGeom>
          <a:solidFill>
            <a:srgbClr val="4CAF72"/>
          </a:solidFill>
          <a:ln w="12700">
            <a:solidFill>
              <a:srgbClr val="4CAF72"/>
            </a:solidFill>
            <a:prstDash val="solid"/>
          </a:ln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0992" y="1956816"/>
            <a:ext cx="438912" cy="43891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199632" y="184708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6199632" y="21671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classifier for intruder detection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5486400" y="2734056"/>
            <a:ext cx="3383280" cy="868680"/>
          </a:xfrm>
          <a:prstGeom prst="rect">
            <a:avLst/>
          </a:prstGeom>
          <a:solidFill>
            <a:srgbClr val="1E3B22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5486400" y="2734056"/>
            <a:ext cx="73152" cy="8686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0992" y="2935224"/>
            <a:ext cx="438912" cy="43891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199632" y="282549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Integration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6199632" y="314553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 &amp; manual override controls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5486400" y="3712464"/>
            <a:ext cx="3383280" cy="868680"/>
          </a:xfrm>
          <a:prstGeom prst="rect">
            <a:avLst/>
          </a:prstGeom>
          <a:solidFill>
            <a:srgbClr val="1E3B22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5486400" y="3712464"/>
            <a:ext cx="73152" cy="86868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0992" y="3913632"/>
            <a:ext cx="438912" cy="438912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6199632" y="380390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Design</a:t>
            </a:r>
            <a:endParaRPr lang="en-US" sz="1200" dirty="0"/>
          </a:p>
        </p:txBody>
      </p:sp>
      <p:sp>
        <p:nvSpPr>
          <p:cNvPr id="41" name="Text 34"/>
          <p:cNvSpPr/>
          <p:nvPr/>
        </p:nvSpPr>
        <p:spPr>
          <a:xfrm>
            <a:off x="6199632" y="412394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Low-power, solar-compatible architecture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A0C"/>
          </a:solidFill>
          <a:ln w="12700">
            <a:solidFill>
              <a:srgbClr val="0A1A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50292"/>
          </a:xfrm>
          <a:prstGeom prst="rect">
            <a:avLst/>
          </a:prstGeom>
          <a:solidFill>
            <a:srgbClr val="4CAF72"/>
          </a:solidFill>
          <a:ln w="12700">
            <a:solidFill>
              <a:srgbClr val="4CA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731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CA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777240"/>
            <a:ext cx="914400" cy="914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777240"/>
            <a:ext cx="8595360" cy="1097280"/>
          </a:xfrm>
          <a:prstGeom prst="rect">
            <a:avLst/>
          </a:prstGeom>
          <a:solidFill>
            <a:srgbClr val="1A100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777240"/>
            <a:ext cx="91440" cy="109728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896112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fields face severe crop damage from animal, bird, and unauthorized human intrusions — especially at night — causing significant economic loss and farmer stress.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74320" y="2103120"/>
            <a:ext cx="4206240" cy="1234440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2103120"/>
            <a:ext cx="4206240" cy="6400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22402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Night-Time Vulnerability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38912" y="2578608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Intrusions peak after dark when farmers cannot monitor fields, leading to widespread crop destruction and yield loss.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09160" y="2103120"/>
            <a:ext cx="4206240" cy="1234440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09160" y="2103120"/>
            <a:ext cx="4206240" cy="640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73752" y="22402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&amp; Social Impact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73752" y="2578608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crop damage causes financial instability for small-scale farmers and psychological stress affecting overall productivity.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74320" y="3520440"/>
            <a:ext cx="4206240" cy="1234440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74320" y="3520440"/>
            <a:ext cx="4206240" cy="6400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8912" y="36576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Methods Fail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38912" y="3995928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guarding, fencing, and basic scare devices are labor-intensive, inconsistent, and ineffective over large areas.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709160" y="3520440"/>
            <a:ext cx="4206240" cy="1234440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709160" y="3520440"/>
            <a:ext cx="4206240" cy="64008"/>
          </a:xfrm>
          <a:prstGeom prst="rect">
            <a:avLst/>
          </a:prstGeom>
          <a:solidFill>
            <a:srgbClr val="4CAF72"/>
          </a:solidFill>
          <a:ln w="12700">
            <a:solidFill>
              <a:srgbClr val="4CAF7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73752" y="36576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Intelligent Response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873752" y="3995928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approaches lack automation, classification ability, and real-time alerts — every intrusion is treated the same way.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A0C"/>
          </a:solidFill>
          <a:ln w="12700">
            <a:solidFill>
              <a:srgbClr val="0A1A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50292"/>
          </a:xfrm>
          <a:prstGeom prst="rect">
            <a:avLst/>
          </a:prstGeom>
          <a:solidFill>
            <a:srgbClr val="4CAF72"/>
          </a:solidFill>
          <a:ln w="12700">
            <a:solidFill>
              <a:srgbClr val="4CA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&amp; Gaps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731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CA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Current Methods Fall Short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457200"/>
          </a:xfrm>
          <a:prstGeom prst="rect">
            <a:avLst/>
          </a:prstGeom>
          <a:solidFill>
            <a:srgbClr val="132B16"/>
          </a:solidFill>
          <a:ln w="12700">
            <a:solidFill>
              <a:srgbClr val="2A4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0467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A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0" y="8046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A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Offers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0" y="80467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A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Gap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261872"/>
            <a:ext cx="8595360" cy="594360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3533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Guarding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560320" y="13533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human control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0" y="13533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Labor-intensive, unsustainable, risk to farmer safety at night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883664"/>
            <a:ext cx="8595360" cy="594360"/>
          </a:xfrm>
          <a:prstGeom prst="rect">
            <a:avLst/>
          </a:prstGeom>
          <a:solidFill>
            <a:srgbClr val="1E3B22"/>
          </a:solidFill>
          <a:ln w="12700">
            <a:solidFill>
              <a:srgbClr val="2A4A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97510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Fencing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560320" y="197510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barrier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0" y="197510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Expensive, requires maintenance, ineffective for birds &amp; small animals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505456"/>
            <a:ext cx="8595360" cy="594360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59689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Deterrents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0" y="259689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cost, easy to deploy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0" y="259689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Animals habituate over time; no classification or adaptation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127248"/>
            <a:ext cx="8595360" cy="594360"/>
          </a:xfrm>
          <a:prstGeom prst="rect">
            <a:avLst/>
          </a:prstGeom>
          <a:solidFill>
            <a:srgbClr val="1E3B22"/>
          </a:solidFill>
          <a:ln w="12700">
            <a:solidFill>
              <a:srgbClr val="2A4A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2186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Repellents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560320" y="32186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Area-wide coverage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0" y="32186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Environmental harm, inconsistent effectiveness, costly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749040"/>
            <a:ext cx="8595360" cy="594360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840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Alarm Systems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0" y="38404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alert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0" y="3840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High false alarms, no intruder classification, no targeted response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solidFill>
            <a:srgbClr val="1C100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4434840"/>
            <a:ext cx="8595360" cy="5029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4988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Gap: No existing solution provides intelligent, automated intruder classification with targeted, adaptive responses and real-time farmer notification.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A0C"/>
          </a:solidFill>
          <a:ln w="12700">
            <a:solidFill>
              <a:srgbClr val="0A1A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50292"/>
          </a:xfrm>
          <a:prstGeom prst="rect">
            <a:avLst/>
          </a:prstGeom>
          <a:solidFill>
            <a:srgbClr val="4CAF72"/>
          </a:solidFill>
          <a:ln w="12700">
            <a:solidFill>
              <a:srgbClr val="4CA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731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CA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AgroSonic Defence System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777240"/>
            <a:ext cx="914400" cy="914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777240"/>
            <a:ext cx="8595360" cy="777240"/>
          </a:xfrm>
          <a:prstGeom prst="rect">
            <a:avLst/>
          </a:prstGeom>
          <a:solidFill>
            <a:srgbClr val="0D2210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777240"/>
            <a:ext cx="91440" cy="777240"/>
          </a:xfrm>
          <a:prstGeom prst="rect">
            <a:avLst/>
          </a:prstGeom>
          <a:solidFill>
            <a:srgbClr val="4CAF72"/>
          </a:solidFill>
          <a:ln w="12700">
            <a:solidFill>
              <a:srgbClr val="4CAF7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859536"/>
            <a:ext cx="8229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AgroSonic Defence combines IoT sensors, ESP32 processing, machine learning classification, and mobile app integration into a fully automated, adaptive crop protection system.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74320" y="1737360"/>
            <a:ext cx="2697480" cy="3154680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1737360"/>
            <a:ext cx="2697480" cy="73152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18288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96112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7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286000"/>
            <a:ext cx="502920" cy="5029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38912" y="2907792"/>
            <a:ext cx="73152" cy="20116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21792" y="28712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sensor detects motion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38912" y="3346704"/>
            <a:ext cx="73152" cy="20116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1792" y="33101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sensor measures distance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38912" y="3785616"/>
            <a:ext cx="73152" cy="20116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21792" y="3749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filtering validates data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38912" y="4224528"/>
            <a:ext cx="73152" cy="20116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21792" y="41879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Dual-sensor confirmation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2971800" y="3108960"/>
            <a:ext cx="155448" cy="54864"/>
          </a:xfrm>
          <a:prstGeom prst="rect">
            <a:avLst/>
          </a:prstGeom>
          <a:solidFill>
            <a:srgbClr val="8BAE90"/>
          </a:solidFill>
          <a:ln w="12700">
            <a:solidFill>
              <a:srgbClr val="8BAE9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154680" y="1737360"/>
            <a:ext cx="2697480" cy="3154680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3154680" y="1737360"/>
            <a:ext cx="2697480" cy="73152"/>
          </a:xfrm>
          <a:prstGeom prst="rect">
            <a:avLst/>
          </a:prstGeom>
          <a:solidFill>
            <a:srgbClr val="4CAF72"/>
          </a:solidFill>
          <a:ln w="12700">
            <a:solidFill>
              <a:srgbClr val="4CAF72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291840" y="18288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CA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3776472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7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4408" y="2286000"/>
            <a:ext cx="502920" cy="502920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3319272" y="2907792"/>
            <a:ext cx="73152" cy="201168"/>
          </a:xfrm>
          <a:prstGeom prst="rect">
            <a:avLst/>
          </a:prstGeom>
          <a:solidFill>
            <a:srgbClr val="4CAF72"/>
          </a:solidFill>
          <a:ln w="12700">
            <a:solidFill>
              <a:srgbClr val="4CAF72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502152" y="28712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from sensor data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3319272" y="3346704"/>
            <a:ext cx="73152" cy="201168"/>
          </a:xfrm>
          <a:prstGeom prst="rect">
            <a:avLst/>
          </a:prstGeom>
          <a:solidFill>
            <a:srgbClr val="4CAF72"/>
          </a:solidFill>
          <a:ln w="12700">
            <a:solidFill>
              <a:srgbClr val="4CAF72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3502152" y="33101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classifies intruder type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3319272" y="3785616"/>
            <a:ext cx="73152" cy="201168"/>
          </a:xfrm>
          <a:prstGeom prst="rect">
            <a:avLst/>
          </a:prstGeom>
          <a:solidFill>
            <a:srgbClr val="4CAF72"/>
          </a:solidFill>
          <a:ln w="12700">
            <a:solidFill>
              <a:srgbClr val="4CAF72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3502152" y="3749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 / Animal / Human labels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3319272" y="4224528"/>
            <a:ext cx="73152" cy="201168"/>
          </a:xfrm>
          <a:prstGeom prst="rect">
            <a:avLst/>
          </a:prstGeom>
          <a:solidFill>
            <a:srgbClr val="4CAF72"/>
          </a:solidFill>
          <a:ln w="12700">
            <a:solidFill>
              <a:srgbClr val="4CAF72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3502152" y="41879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level assigned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5852160" y="3108960"/>
            <a:ext cx="155448" cy="54864"/>
          </a:xfrm>
          <a:prstGeom prst="rect">
            <a:avLst/>
          </a:prstGeom>
          <a:solidFill>
            <a:srgbClr val="8BAE90"/>
          </a:solidFill>
          <a:ln w="12700">
            <a:solidFill>
              <a:srgbClr val="8BAE90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6035040" y="1737360"/>
            <a:ext cx="2697480" cy="3154680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6035040" y="1737360"/>
            <a:ext cx="2697480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6172200" y="18288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41" name="Text 36"/>
          <p:cNvSpPr/>
          <p:nvPr/>
        </p:nvSpPr>
        <p:spPr>
          <a:xfrm>
            <a:off x="6656832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700" dirty="0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4768" y="2286000"/>
            <a:ext cx="502920" cy="502920"/>
          </a:xfrm>
          <a:prstGeom prst="rect">
            <a:avLst/>
          </a:prstGeom>
        </p:spPr>
      </p:pic>
      <p:sp>
        <p:nvSpPr>
          <p:cNvPr id="43" name="Shape 37"/>
          <p:cNvSpPr/>
          <p:nvPr/>
        </p:nvSpPr>
        <p:spPr>
          <a:xfrm>
            <a:off x="6199632" y="2907792"/>
            <a:ext cx="73152" cy="2011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6382512" y="28712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Type-specific sound frequency activated</a:t>
            </a:r>
            <a:endParaRPr lang="en-US" sz="1000" dirty="0"/>
          </a:p>
        </p:txBody>
      </p:sp>
      <p:sp>
        <p:nvSpPr>
          <p:cNvPr id="45" name="Shape 39"/>
          <p:cNvSpPr/>
          <p:nvPr/>
        </p:nvSpPr>
        <p:spPr>
          <a:xfrm>
            <a:off x="6199632" y="3346704"/>
            <a:ext cx="73152" cy="2011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6382512" y="33101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visual alert triggered</a:t>
            </a:r>
            <a:endParaRPr lang="en-US" sz="1000" dirty="0"/>
          </a:p>
        </p:txBody>
      </p:sp>
      <p:sp>
        <p:nvSpPr>
          <p:cNvPr id="47" name="Shape 41"/>
          <p:cNvSpPr/>
          <p:nvPr/>
        </p:nvSpPr>
        <p:spPr>
          <a:xfrm>
            <a:off x="6199632" y="3785616"/>
            <a:ext cx="73152" cy="2011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6382512" y="3749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push notification sent</a:t>
            </a:r>
            <a:endParaRPr lang="en-US" sz="1000" dirty="0"/>
          </a:p>
        </p:txBody>
      </p:sp>
      <p:sp>
        <p:nvSpPr>
          <p:cNvPr id="49" name="Shape 43"/>
          <p:cNvSpPr/>
          <p:nvPr/>
        </p:nvSpPr>
        <p:spPr>
          <a:xfrm>
            <a:off x="6199632" y="4224528"/>
            <a:ext cx="73152" cy="2011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6382512" y="41879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override available</a:t>
            </a:r>
            <a:endParaRPr lang="en-US" sz="1000" dirty="0"/>
          </a:p>
        </p:txBody>
      </p:sp>
      <p:sp>
        <p:nvSpPr>
          <p:cNvPr id="51" name="Shape 45"/>
          <p:cNvSpPr/>
          <p:nvPr/>
        </p:nvSpPr>
        <p:spPr>
          <a:xfrm>
            <a:off x="274320" y="5074920"/>
            <a:ext cx="8595360" cy="457200"/>
          </a:xfrm>
          <a:prstGeom prst="rect">
            <a:avLst/>
          </a:prstGeom>
          <a:solidFill>
            <a:srgbClr val="1A3D1E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2" name="Text 46"/>
          <p:cNvSpPr/>
          <p:nvPr/>
        </p:nvSpPr>
        <p:spPr>
          <a:xfrm>
            <a:off x="502920" y="512978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traditional one-size-fits-all systems, AgroSonic uses different deterrent frequencies per intruder type — preventing habituation and maximizing effectiveness.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A0C"/>
          </a:solidFill>
          <a:ln w="12700">
            <a:solidFill>
              <a:srgbClr val="0A1A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50292"/>
          </a:xfrm>
          <a:prstGeom prst="rect">
            <a:avLst/>
          </a:prstGeom>
          <a:solidFill>
            <a:srgbClr val="4CAF72"/>
          </a:solidFill>
          <a:ln w="12700">
            <a:solidFill>
              <a:srgbClr val="4CA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Software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731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CA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LAYER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4114800" cy="658368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15568"/>
            <a:ext cx="73152" cy="65836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88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MCU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1463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Processing Unit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12527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built-in, low power, fast processing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865376"/>
            <a:ext cx="4114800" cy="658368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865376"/>
            <a:ext cx="73152" cy="65836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9385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Sensor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22128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Detection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86000" y="200253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infrared heat signatures from movement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615184"/>
            <a:ext cx="4114800" cy="658368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615184"/>
            <a:ext cx="73152" cy="65836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6883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Sensor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296265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Measurement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86000" y="275234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presence &amp; estimates intruder size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364992"/>
            <a:ext cx="4114800" cy="658368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364992"/>
            <a:ext cx="73152" cy="65836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4381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Module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371246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Deterrent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35021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 frequency-specific deterrent sounds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4114800"/>
            <a:ext cx="4114800" cy="658368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4114800"/>
            <a:ext cx="73152" cy="65836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187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Indicators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02920" y="44622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Alert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286000" y="4251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Flashing alerts for visual deterrence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54880" y="7498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4CA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LAYER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0" y="1115568"/>
            <a:ext cx="4114800" cy="658368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1115568"/>
            <a:ext cx="73152" cy="658368"/>
          </a:xfrm>
          <a:prstGeom prst="rect">
            <a:avLst/>
          </a:prstGeom>
          <a:solidFill>
            <a:srgbClr val="4CAF72"/>
          </a:solidFill>
          <a:ln w="12700">
            <a:solidFill>
              <a:srgbClr val="4CAF7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IDE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983480" y="1463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58000" y="1252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C programming for ESP32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1865376"/>
            <a:ext cx="4114800" cy="658368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54880" y="1865376"/>
            <a:ext cx="73152" cy="658368"/>
          </a:xfrm>
          <a:prstGeom prst="rect">
            <a:avLst/>
          </a:prstGeom>
          <a:solidFill>
            <a:srgbClr val="4CAF72"/>
          </a:solidFill>
          <a:ln w="12700">
            <a:solidFill>
              <a:srgbClr val="4CAF7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1938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Classifier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983480" y="22128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Intruder Classification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858000" y="20025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/ rule-based lightweight model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54880" y="2615184"/>
            <a:ext cx="4114800" cy="658368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54880" y="2615184"/>
            <a:ext cx="73152" cy="658368"/>
          </a:xfrm>
          <a:prstGeom prst="rect">
            <a:avLst/>
          </a:prstGeom>
          <a:solidFill>
            <a:srgbClr val="4CAF72"/>
          </a:solidFill>
          <a:ln w="12700">
            <a:solidFill>
              <a:srgbClr val="4CAF7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83480" y="26883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Module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983480" y="296265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Communication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858000" y="27523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data to mobile app via HTTP/MQTT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54880" y="3364992"/>
            <a:ext cx="4114800" cy="658368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54880" y="3364992"/>
            <a:ext cx="73152" cy="658368"/>
          </a:xfrm>
          <a:prstGeom prst="rect">
            <a:avLst/>
          </a:prstGeom>
          <a:solidFill>
            <a:srgbClr val="4CAF72"/>
          </a:solidFill>
          <a:ln w="12700">
            <a:solidFill>
              <a:srgbClr val="4CAF7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83480" y="34381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4983480" y="37124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Interface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858000" y="35021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Notifications, manual control, activity logs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498848" y="749808"/>
            <a:ext cx="54864" cy="4114800"/>
          </a:xfrm>
          <a:prstGeom prst="rect">
            <a:avLst/>
          </a:prstGeom>
          <a:solidFill>
            <a:srgbClr val="2A4A2E"/>
          </a:solidFill>
          <a:ln w="12700">
            <a:solidFill>
              <a:srgbClr val="2A4A2E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A0C"/>
          </a:solidFill>
          <a:ln w="12700">
            <a:solidFill>
              <a:srgbClr val="0A1A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50292"/>
          </a:xfrm>
          <a:prstGeom prst="rect">
            <a:avLst/>
          </a:prstGeom>
          <a:solidFill>
            <a:srgbClr val="4CAF72"/>
          </a:solidFill>
          <a:ln w="12700">
            <a:solidFill>
              <a:srgbClr val="4CA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Algorithm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731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CA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Intruder Classification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777240"/>
            <a:ext cx="914400" cy="914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777240"/>
            <a:ext cx="4114800" cy="4343400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85039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2984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1508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intensity (PIR) • Distance variation (ultrasonic) • Optional thermal data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7200" y="1764792"/>
            <a:ext cx="3657600" cy="22860"/>
          </a:xfrm>
          <a:prstGeom prst="rect">
            <a:avLst/>
          </a:prstGeom>
          <a:solidFill>
            <a:srgbClr val="2A4A2E"/>
          </a:solidFill>
          <a:ln w="12700">
            <a:solidFill>
              <a:srgbClr val="2A4A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8196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20299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/ Rule-Based Classifier — compatible with ESP32 limited RAM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7200" y="2286000"/>
            <a:ext cx="3657600" cy="22860"/>
          </a:xfrm>
          <a:prstGeom prst="rect">
            <a:avLst/>
          </a:prstGeom>
          <a:solidFill>
            <a:srgbClr val="2A4A2E"/>
          </a:solidFill>
          <a:ln w="12700">
            <a:solidFill>
              <a:srgbClr val="2A4A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23408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Classes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25511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🐦 Bird  |  🐄 Animal  |  👤 Human  (+ confidence %)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57200" y="2807208"/>
            <a:ext cx="3657600" cy="22860"/>
          </a:xfrm>
          <a:prstGeom prst="rect">
            <a:avLst/>
          </a:prstGeom>
          <a:solidFill>
            <a:srgbClr val="2A4A2E"/>
          </a:solidFill>
          <a:ln w="12700">
            <a:solidFill>
              <a:srgbClr val="2A4A2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2862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30723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fires on validated intrusion only — dual sensor confirmation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7200" y="3328416"/>
            <a:ext cx="3657600" cy="22860"/>
          </a:xfrm>
          <a:prstGeom prst="rect">
            <a:avLst/>
          </a:prstGeom>
          <a:solidFill>
            <a:srgbClr val="2A4A2E"/>
          </a:solidFill>
          <a:ln w="12700">
            <a:solidFill>
              <a:srgbClr val="2A4A2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33832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35935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specific deterrent sound per class — prevents animal habituation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57200" y="3849624"/>
            <a:ext cx="3657600" cy="22860"/>
          </a:xfrm>
          <a:prstGeom prst="rect">
            <a:avLst/>
          </a:prstGeom>
          <a:solidFill>
            <a:srgbClr val="2A4A2E"/>
          </a:solidFill>
          <a:ln w="12700">
            <a:solidFill>
              <a:srgbClr val="2A4A2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39044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57200" y="4114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latency, no cloud dependency, runs on-device in real time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663440" y="777240"/>
            <a:ext cx="4206240" cy="4343400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846320" y="85039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Flow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800600" y="1371600"/>
            <a:ext cx="438912" cy="438912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00600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376672" y="137160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Reading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376672" y="160934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+ Ultrasonic raw data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992624" y="1810512"/>
            <a:ext cx="54864" cy="274320"/>
          </a:xfrm>
          <a:prstGeom prst="rect">
            <a:avLst/>
          </a:prstGeom>
          <a:solidFill>
            <a:srgbClr val="2A4A2E"/>
          </a:solidFill>
          <a:ln w="12700">
            <a:solidFill>
              <a:srgbClr val="2A4A2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800600" y="2121408"/>
            <a:ext cx="438912" cy="438912"/>
          </a:xfrm>
          <a:prstGeom prst="ellipse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00600" y="2121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5376672" y="212140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376672" y="23591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filter + normalization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992624" y="2560320"/>
            <a:ext cx="54864" cy="274320"/>
          </a:xfrm>
          <a:prstGeom prst="rect">
            <a:avLst/>
          </a:prstGeom>
          <a:solidFill>
            <a:srgbClr val="2A4A2E"/>
          </a:solidFill>
          <a:ln w="12700">
            <a:solidFill>
              <a:srgbClr val="2A4A2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800600" y="2871216"/>
            <a:ext cx="438912" cy="438912"/>
          </a:xfrm>
          <a:prstGeom prst="ellipse">
            <a:avLst/>
          </a:prstGeom>
          <a:solidFill>
            <a:srgbClr val="4CAF72"/>
          </a:solidFill>
          <a:ln w="12700">
            <a:solidFill>
              <a:srgbClr val="4CAF7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800600" y="28712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5376672" y="2871216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5376672" y="310896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intensity, distance delta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4992624" y="3310128"/>
            <a:ext cx="54864" cy="274320"/>
          </a:xfrm>
          <a:prstGeom prst="rect">
            <a:avLst/>
          </a:prstGeom>
          <a:solidFill>
            <a:srgbClr val="2A4A2E"/>
          </a:solidFill>
          <a:ln w="12700">
            <a:solidFill>
              <a:srgbClr val="2A4A2E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800600" y="3621024"/>
            <a:ext cx="438912" cy="438912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800600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5376672" y="362102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Classification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5376672" y="385876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 / Animal / Human + confidence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4992624" y="4059936"/>
            <a:ext cx="54864" cy="274320"/>
          </a:xfrm>
          <a:prstGeom prst="rect">
            <a:avLst/>
          </a:prstGeom>
          <a:solidFill>
            <a:srgbClr val="2A4A2E"/>
          </a:solidFill>
          <a:ln w="12700">
            <a:solidFill>
              <a:srgbClr val="2A4A2E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800600" y="4370832"/>
            <a:ext cx="438912" cy="438912"/>
          </a:xfrm>
          <a:prstGeom prst="ellipse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800600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5376672" y="4370832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&amp; Action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5376672" y="4608576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targeted deterrent + alert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A0C"/>
          </a:solidFill>
          <a:ln w="12700">
            <a:solidFill>
              <a:srgbClr val="0A1A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50292"/>
          </a:xfrm>
          <a:prstGeom prst="rect">
            <a:avLst/>
          </a:prstGeom>
          <a:solidFill>
            <a:srgbClr val="4CAF72"/>
          </a:solidFill>
          <a:ln w="12700">
            <a:solidFill>
              <a:srgbClr val="4CA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&amp; Subscription Model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731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CA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 &amp; Business Strategy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777240"/>
            <a:ext cx="914400" cy="914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777240"/>
            <a:ext cx="4114800" cy="4206240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85039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Features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54864" cy="5029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131673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Push Alerts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58368" y="15727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notification with intruder type, time, and detection zone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57200" y="2011680"/>
            <a:ext cx="54864" cy="5029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202996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Override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58368" y="228600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can remotely trigger stronger deterrents or disable alerts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7200" y="2724912"/>
            <a:ext cx="54864" cy="5029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" y="27432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Dashboard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58368" y="299923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sensor status, battery level, Wi-Fi signal strength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57200" y="3438144"/>
            <a:ext cx="54864" cy="5029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" y="34564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58368" y="371246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 of intrusion events, response actions, and timestamps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57200" y="4151376"/>
            <a:ext cx="54864" cy="5029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8368" y="41696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Customization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58368" y="442569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sound intensity, alert schedules, and sensitivity thresholds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663440" y="777240"/>
            <a:ext cx="4206240" cy="4206240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846320" y="85039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Model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800600" y="1298448"/>
            <a:ext cx="3840480" cy="1691640"/>
          </a:xfrm>
          <a:prstGeom prst="rect">
            <a:avLst/>
          </a:prstGeom>
          <a:solidFill>
            <a:srgbClr val="1A3D1E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800600" y="1298448"/>
            <a:ext cx="3840480" cy="6400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83480" y="14081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— 6 Months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812280" y="13898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4983480" y="18013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app access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983480" y="20756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notifications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983480" y="23500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Basic activity logs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4983480" y="26243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App support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800600" y="3218688"/>
            <a:ext cx="3840480" cy="1691640"/>
          </a:xfrm>
          <a:prstGeom prst="rect">
            <a:avLst/>
          </a:prstGeom>
          <a:solidFill>
            <a:srgbClr val="1A3D1E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800600" y="3218688"/>
            <a:ext cx="3840480" cy="64008"/>
          </a:xfrm>
          <a:prstGeom prst="rect">
            <a:avLst/>
          </a:prstGeom>
          <a:solidFill>
            <a:srgbClr val="4CAF72"/>
          </a:solidFill>
          <a:ln w="12700">
            <a:solidFill>
              <a:srgbClr val="4CAF7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83480" y="33284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— Monthly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812280" y="33101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4CA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₹199/mo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4983480" y="37216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Free features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4983480" y="39959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Cloud data storage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4983480" y="42702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Advanced analytics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4983480" y="45445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Priority support + OTA updates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A0C"/>
          </a:solidFill>
          <a:ln w="12700">
            <a:solidFill>
              <a:srgbClr val="0A1A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50292"/>
          </a:xfrm>
          <a:prstGeom prst="rect">
            <a:avLst/>
          </a:prstGeom>
          <a:solidFill>
            <a:srgbClr val="4CAF72"/>
          </a:solidFill>
          <a:ln w="12700">
            <a:solidFill>
              <a:srgbClr val="4CA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731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CA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Agri-Tech Market Potential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777240"/>
            <a:ext cx="914400" cy="914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777240"/>
            <a:ext cx="2697480" cy="1828800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777240"/>
            <a:ext cx="2697480" cy="54864"/>
          </a:xfrm>
          <a:prstGeom prst="rect">
            <a:avLst/>
          </a:prstGeom>
          <a:solidFill>
            <a:srgbClr val="4CAF72"/>
          </a:solidFill>
          <a:ln w="12700">
            <a:solidFill>
              <a:srgbClr val="4CAF72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896112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86868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&amp; Medium Farmers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11480" y="1481328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target — most affected by crop loss, limited access to advanced technology, price-sensitive buyers.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200400" y="777240"/>
            <a:ext cx="2697480" cy="1828800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00400" y="777240"/>
            <a:ext cx="269748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896112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977640" y="86868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 Cooperatives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3337560" y="1481328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adoption potential. Can equip thousands of member farms with a centralized subscription model.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126480" y="777240"/>
            <a:ext cx="2697480" cy="1828800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126480" y="777240"/>
            <a:ext cx="2697480" cy="54864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896112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03720" y="86868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&amp; NGOs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6263640" y="1481328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Subsidized distribution programs for rural farmers aligned with Digital India and PM-Kisan initiatives.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274320" y="2834640"/>
            <a:ext cx="8595360" cy="1188720"/>
          </a:xfrm>
          <a:prstGeom prst="rect">
            <a:avLst/>
          </a:prstGeom>
          <a:solidFill>
            <a:srgbClr val="0D2210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594360" y="2926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CA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140M+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594360" y="3383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Households in India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2468880" y="2971800"/>
            <a:ext cx="54864" cy="868680"/>
          </a:xfrm>
          <a:prstGeom prst="rect">
            <a:avLst/>
          </a:prstGeom>
          <a:solidFill>
            <a:srgbClr val="2A4A2E"/>
          </a:solidFill>
          <a:ln w="12700">
            <a:solidFill>
              <a:srgbClr val="2A4A2E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2770632" y="2926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CA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₹1.5L Cr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2770632" y="3383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Crop Loss Estimate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645152" y="2971800"/>
            <a:ext cx="54864" cy="868680"/>
          </a:xfrm>
          <a:prstGeom prst="rect">
            <a:avLst/>
          </a:prstGeom>
          <a:solidFill>
            <a:srgbClr val="2A4A2E"/>
          </a:solidFill>
          <a:ln w="12700">
            <a:solidFill>
              <a:srgbClr val="2A4A2E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4946904" y="2926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CA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Farming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4946904" y="3383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Growing Agri Segment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6821424" y="2971800"/>
            <a:ext cx="54864" cy="868680"/>
          </a:xfrm>
          <a:prstGeom prst="rect">
            <a:avLst/>
          </a:prstGeom>
          <a:solidFill>
            <a:srgbClr val="2A4A2E"/>
          </a:solidFill>
          <a:ln w="12700">
            <a:solidFill>
              <a:srgbClr val="2A4A2E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123176" y="2926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CA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₹199/mo</a:t>
            </a:r>
            <a:endParaRPr lang="en-US" sz="1800" dirty="0"/>
          </a:p>
        </p:txBody>
      </p:sp>
      <p:sp>
        <p:nvSpPr>
          <p:cNvPr id="33" name="Text 27"/>
          <p:cNvSpPr/>
          <p:nvPr/>
        </p:nvSpPr>
        <p:spPr>
          <a:xfrm>
            <a:off x="7123176" y="3383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Price Point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274320" y="416052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growing adoption of IoT and smart farming solutions, combined with digital literacy among younger farmers, creates a strong opportunity for scalable, subscription-based agri-tech deployment across rural India and beyond.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A0C"/>
          </a:solidFill>
          <a:ln w="12700">
            <a:solidFill>
              <a:srgbClr val="0A1A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50292"/>
          </a:xfrm>
          <a:prstGeom prst="rect">
            <a:avLst/>
          </a:prstGeom>
          <a:solidFill>
            <a:srgbClr val="4CAF72"/>
          </a:solidFill>
          <a:ln w="12700">
            <a:solidFill>
              <a:srgbClr val="4CA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731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CA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Technologies Used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2697480" cy="1920240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04672"/>
            <a:ext cx="2697480" cy="64008"/>
          </a:xfrm>
          <a:prstGeom prst="rect">
            <a:avLst/>
          </a:prstGeom>
          <a:solidFill>
            <a:srgbClr val="4CAF72"/>
          </a:solidFill>
          <a:ln w="12700">
            <a:solidFill>
              <a:srgbClr val="4CAF72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987552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78992" y="9875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of Things (IoT)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38912" y="1609344"/>
            <a:ext cx="2377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seamless communication between sensors, microcontroller, and the mobile application in real time.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00400" y="804672"/>
            <a:ext cx="2697480" cy="1920240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804672"/>
            <a:ext cx="2697480" cy="6400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987552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05072" y="9875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Systems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364992" y="1609344"/>
            <a:ext cx="2377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processes sensor data, executes control logic, and manages all hardware outputs through Embedded C on Arduino IDE.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126480" y="804672"/>
            <a:ext cx="2697480" cy="1920240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804672"/>
            <a:ext cx="2697480" cy="64008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987552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31152" y="9875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291072" y="1609344"/>
            <a:ext cx="2377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on-device classifier differentiates between birds, animals, and humans from sensor pattern data.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274320" y="2907792"/>
            <a:ext cx="2697480" cy="1920240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274320" y="2907792"/>
            <a:ext cx="2697480" cy="640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3090672"/>
            <a:ext cx="502920" cy="5029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78992" y="30906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Communication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38912" y="3712464"/>
            <a:ext cx="2377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module on ESP32 transmits intrusion events to the cloud and pushes notifications to the farmer's smartphone.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3200400" y="2907792"/>
            <a:ext cx="2697480" cy="1920240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200400" y="2907792"/>
            <a:ext cx="2697480" cy="6400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3090672"/>
            <a:ext cx="502920" cy="5029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005072" y="30906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3364992" y="3712464"/>
            <a:ext cx="2377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User-facing app provides real-time alerts, manual control, system status dashboard, and historical activity logs.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6126480" y="2907792"/>
            <a:ext cx="2697480" cy="1920240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126480" y="2907792"/>
            <a:ext cx="2697480" cy="6400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1072" y="3090672"/>
            <a:ext cx="502920" cy="5029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931152" y="30906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Solar (Roadmap)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6291072" y="3712464"/>
            <a:ext cx="2377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 — cloud analytics for crop protection insights and solar power integration for off-grid deployment.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A0C"/>
          </a:solidFill>
          <a:ln w="12700">
            <a:solidFill>
              <a:srgbClr val="0A1A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50292"/>
          </a:xfrm>
          <a:prstGeom prst="rect">
            <a:avLst/>
          </a:prstGeom>
          <a:solidFill>
            <a:srgbClr val="4CAF72"/>
          </a:solidFill>
          <a:ln w="12700">
            <a:solidFill>
              <a:srgbClr val="4CA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Flowchart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731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CA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Process Flow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777240"/>
            <a:ext cx="914400" cy="914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777240"/>
            <a:ext cx="4160520" cy="868680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777240"/>
            <a:ext cx="64008" cy="868680"/>
          </a:xfrm>
          <a:prstGeom prst="rect">
            <a:avLst/>
          </a:prstGeom>
          <a:solidFill>
            <a:srgbClr val="8BAE90"/>
          </a:solidFill>
          <a:ln w="12700">
            <a:solidFill>
              <a:srgbClr val="8BAE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1480" y="978408"/>
            <a:ext cx="438912" cy="438912"/>
          </a:xfrm>
          <a:prstGeom prst="ellipse">
            <a:avLst/>
          </a:prstGeom>
          <a:solidFill>
            <a:srgbClr val="8BAE90">
              <a:alpha val="40000"/>
            </a:srgbClr>
          </a:solidFill>
          <a:ln w="12700">
            <a:solidFill>
              <a:srgbClr val="8BAE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978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60120" y="8686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Start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60120" y="121615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ON, sensors initialize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40080" y="1645920"/>
            <a:ext cx="54864" cy="182880"/>
          </a:xfrm>
          <a:prstGeom prst="rect">
            <a:avLst/>
          </a:prstGeom>
          <a:solidFill>
            <a:srgbClr val="8BAE90"/>
          </a:solidFill>
          <a:ln w="12700">
            <a:solidFill>
              <a:srgbClr val="8BAE9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54880" y="777240"/>
            <a:ext cx="4160520" cy="868680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777240"/>
            <a:ext cx="64008" cy="86868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92040" y="978408"/>
            <a:ext cx="438912" cy="438912"/>
          </a:xfrm>
          <a:prstGeom prst="ellipse">
            <a:avLst/>
          </a:prstGeom>
          <a:solidFill>
            <a:srgbClr val="42A5F5">
              <a:alpha val="40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92040" y="978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40680" y="8686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Detects Motion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440680" y="121615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Infrared signature detected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120640" y="1645920"/>
            <a:ext cx="54864" cy="18288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74320" y="1828800"/>
            <a:ext cx="4160520" cy="868680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74320" y="1828800"/>
            <a:ext cx="64008" cy="86868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11480" y="2029968"/>
            <a:ext cx="438912" cy="438912"/>
          </a:xfrm>
          <a:prstGeom prst="ellipse">
            <a:avLst/>
          </a:prstGeom>
          <a:solidFill>
            <a:srgbClr val="42A5F5">
              <a:alpha val="40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1480" y="2029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60120" y="19202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Confirms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960120" y="22677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+ presence validated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40080" y="2697480"/>
            <a:ext cx="54864" cy="18288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754880" y="1828800"/>
            <a:ext cx="4160520" cy="868680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754880" y="1828800"/>
            <a:ext cx="64008" cy="86868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892040" y="2029968"/>
            <a:ext cx="438912" cy="438912"/>
          </a:xfrm>
          <a:prstGeom prst="ellipse">
            <a:avLst/>
          </a:prstGeom>
          <a:solidFill>
            <a:srgbClr val="7B68EE">
              <a:alpha val="40000"/>
            </a:srgbClr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92040" y="2029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440680" y="19202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5440680" y="22677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intensity, distance delta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120640" y="2697480"/>
            <a:ext cx="54864" cy="18288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74320" y="2880360"/>
            <a:ext cx="4160520" cy="868680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274320" y="2880360"/>
            <a:ext cx="64008" cy="868680"/>
          </a:xfrm>
          <a:prstGeom prst="rect">
            <a:avLst/>
          </a:prstGeom>
          <a:solidFill>
            <a:srgbClr val="4CAF72"/>
          </a:solidFill>
          <a:ln w="12700">
            <a:solidFill>
              <a:srgbClr val="4CAF72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11480" y="3081528"/>
            <a:ext cx="438912" cy="438912"/>
          </a:xfrm>
          <a:prstGeom prst="ellipse">
            <a:avLst/>
          </a:prstGeom>
          <a:solidFill>
            <a:srgbClr val="4CAF72">
              <a:alpha val="40000"/>
            </a:srgbClr>
          </a:solidFill>
          <a:ln w="12700">
            <a:solidFill>
              <a:srgbClr val="4CAF72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11480" y="3081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960120" y="29718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Classification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960120" y="33192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 / Animal / Human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40080" y="3749040"/>
            <a:ext cx="54864" cy="182880"/>
          </a:xfrm>
          <a:prstGeom prst="rect">
            <a:avLst/>
          </a:prstGeom>
          <a:solidFill>
            <a:srgbClr val="4CAF72"/>
          </a:solidFill>
          <a:ln w="12700">
            <a:solidFill>
              <a:srgbClr val="4CAF72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754880" y="2880360"/>
            <a:ext cx="4160520" cy="868680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4754880" y="2880360"/>
            <a:ext cx="64008" cy="8686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892040" y="3081528"/>
            <a:ext cx="438912" cy="438912"/>
          </a:xfrm>
          <a:prstGeom prst="ellipse">
            <a:avLst/>
          </a:prstGeom>
          <a:solidFill>
            <a:srgbClr val="F9A825">
              <a:alpha val="40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892040" y="3081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5440680" y="29718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Selection</a:t>
            </a:r>
            <a:endParaRPr lang="en-US" sz="1150" dirty="0"/>
          </a:p>
        </p:txBody>
      </p:sp>
      <p:sp>
        <p:nvSpPr>
          <p:cNvPr id="47" name="Text 44"/>
          <p:cNvSpPr/>
          <p:nvPr/>
        </p:nvSpPr>
        <p:spPr>
          <a:xfrm>
            <a:off x="5440680" y="33192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Type-specific sound/LED chosen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5120640" y="3749040"/>
            <a:ext cx="54864" cy="1828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74320" y="3931920"/>
            <a:ext cx="4160520" cy="868680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274320" y="3931920"/>
            <a:ext cx="64008" cy="86868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11480" y="4133088"/>
            <a:ext cx="438912" cy="438912"/>
          </a:xfrm>
          <a:prstGeom prst="ellipse">
            <a:avLst/>
          </a:prstGeom>
          <a:solidFill>
            <a:srgbClr val="EF5350">
              <a:alpha val="40000"/>
            </a:srgbClr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11480" y="4133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960120" y="40233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 + Notify</a:t>
            </a:r>
            <a:endParaRPr lang="en-US" sz="1150" dirty="0"/>
          </a:p>
        </p:txBody>
      </p:sp>
      <p:sp>
        <p:nvSpPr>
          <p:cNvPr id="54" name="Text 51"/>
          <p:cNvSpPr/>
          <p:nvPr/>
        </p:nvSpPr>
        <p:spPr>
          <a:xfrm>
            <a:off x="960120" y="43708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+ App notification sent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4754880" y="3931920"/>
            <a:ext cx="4160520" cy="868680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4754880" y="3931920"/>
            <a:ext cx="64008" cy="8686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4892040" y="4133088"/>
            <a:ext cx="438912" cy="438912"/>
          </a:xfrm>
          <a:prstGeom prst="ellipse">
            <a:avLst/>
          </a:prstGeom>
          <a:solidFill>
            <a:srgbClr val="F9A825">
              <a:alpha val="40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4892040" y="4133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300" dirty="0"/>
          </a:p>
        </p:txBody>
      </p:sp>
      <p:sp>
        <p:nvSpPr>
          <p:cNvPr id="59" name="Text 56"/>
          <p:cNvSpPr/>
          <p:nvPr/>
        </p:nvSpPr>
        <p:spPr>
          <a:xfrm>
            <a:off x="5440680" y="40233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Control</a:t>
            </a:r>
            <a:endParaRPr lang="en-US" sz="1150" dirty="0"/>
          </a:p>
        </p:txBody>
      </p:sp>
      <p:sp>
        <p:nvSpPr>
          <p:cNvPr id="60" name="Text 57"/>
          <p:cNvSpPr/>
          <p:nvPr/>
        </p:nvSpPr>
        <p:spPr>
          <a:xfrm>
            <a:off x="5440680" y="43708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override if needed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274320" y="4846320"/>
            <a:ext cx="8595360" cy="365760"/>
          </a:xfrm>
          <a:prstGeom prst="rect">
            <a:avLst/>
          </a:prstGeom>
          <a:solidFill>
            <a:srgbClr val="1A3D1E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2" name="Text 59"/>
          <p:cNvSpPr/>
          <p:nvPr/>
        </p:nvSpPr>
        <p:spPr>
          <a:xfrm>
            <a:off x="502920" y="4892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Loop: If deterrent fails → Farmer manual override → System logs response → Algorithm improves over time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A0C"/>
          </a:solidFill>
          <a:ln w="12700">
            <a:solidFill>
              <a:srgbClr val="0A1A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50292"/>
          </a:xfrm>
          <a:prstGeom prst="rect">
            <a:avLst/>
          </a:prstGeom>
          <a:solidFill>
            <a:srgbClr val="4CAF72"/>
          </a:solidFill>
          <a:ln w="12700">
            <a:solidFill>
              <a:srgbClr val="4CA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Modules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731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CA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Architecture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777240"/>
            <a:ext cx="914400" cy="914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804672"/>
            <a:ext cx="1993392" cy="1828800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804672"/>
            <a:ext cx="1993392" cy="54864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8961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65760" y="12801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 Module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65760" y="179222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+ Ultrasonic sensors continuously monitor the field for motion and intrusion signals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450592" y="804672"/>
            <a:ext cx="1993392" cy="1828800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50592" y="804672"/>
            <a:ext cx="1993392" cy="54864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42032" y="8961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542032" y="12801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542032" y="179222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Collects, filters, and normalizes raw sensor data for downstream processing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626864" y="804672"/>
            <a:ext cx="1993392" cy="1828800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26864" y="804672"/>
            <a:ext cx="1993392" cy="54864"/>
          </a:xfrm>
          <a:prstGeom prst="rect">
            <a:avLst/>
          </a:prstGeom>
          <a:solidFill>
            <a:srgbClr val="4CAF72"/>
          </a:solidFill>
          <a:ln w="12700">
            <a:solidFill>
              <a:srgbClr val="4CAF7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18304" y="8961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CA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718304" y="12801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Classification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718304" y="179222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model classifies intruder type with confidence level in real time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803136" y="804672"/>
            <a:ext cx="1993392" cy="1828800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803136" y="804672"/>
            <a:ext cx="1993392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94576" y="8961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894576" y="12801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Module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894576" y="179222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appropriate deterrent action based on classification output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74320" y="2816352"/>
            <a:ext cx="1993392" cy="1828800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274320" y="2816352"/>
            <a:ext cx="1993392" cy="54864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5760" y="290779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365760" y="32918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Actuation Module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" y="380390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buzzer with targeted frequency and activates LED visual deterrent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2450592" y="2816352"/>
            <a:ext cx="1993392" cy="1828800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2450592" y="2816352"/>
            <a:ext cx="1993392" cy="54864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542032" y="290779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2542032" y="32918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2542032" y="380390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transmits event data to cloud and mobile app via MQTT/HTTP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626864" y="2816352"/>
            <a:ext cx="1993392" cy="1828800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4626864" y="2816352"/>
            <a:ext cx="1993392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18304" y="290779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4718304" y="32918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4718304" y="380390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provides push alerts, manual control, dashboards, and logs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803136" y="2816352"/>
            <a:ext cx="1993392" cy="1828800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6803136" y="2816352"/>
            <a:ext cx="1993392" cy="54864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894576" y="290779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45" name="Text 42"/>
          <p:cNvSpPr/>
          <p:nvPr/>
        </p:nvSpPr>
        <p:spPr>
          <a:xfrm>
            <a:off x="6894576" y="32918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Module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6894576" y="380390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subscription lifecycle, service tiers, billing, and software updates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A0C"/>
          </a:solidFill>
          <a:ln w="12700">
            <a:solidFill>
              <a:srgbClr val="0A1A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50292"/>
          </a:xfrm>
          <a:prstGeom prst="rect">
            <a:avLst/>
          </a:prstGeom>
          <a:solidFill>
            <a:srgbClr val="4CAF72"/>
          </a:solidFill>
          <a:ln w="12700">
            <a:solidFill>
              <a:srgbClr val="4CA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Feasibility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731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CA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Deployment Readiness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868680"/>
          </a:xfrm>
          <a:prstGeom prst="rect">
            <a:avLst/>
          </a:prstGeom>
          <a:solidFill>
            <a:srgbClr val="0D2210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89611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AgroSonic Defence is engineered for practical deployment — low cost, easy installation, and a modular architecture that scales from a single farm to cooperative-level coverage.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1993392" cy="3200400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828800"/>
            <a:ext cx="1993392" cy="64008"/>
          </a:xfrm>
          <a:prstGeom prst="rect">
            <a:avLst/>
          </a:prstGeom>
          <a:solidFill>
            <a:srgbClr val="4CAF72"/>
          </a:solidFill>
          <a:ln w="12700">
            <a:solidFill>
              <a:srgbClr val="4CAF72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920240"/>
            <a:ext cx="438912" cy="4389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32688" y="193852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11480" y="246888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Low-cost, off-the-shelf components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11480" y="306324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ESP32 &lt; ₹500 on open market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11480" y="365760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specialized hardware required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11480" y="425196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Subscription starts free for 6 months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450592" y="1828800"/>
            <a:ext cx="1993392" cy="3200400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450592" y="1828800"/>
            <a:ext cx="1993392" cy="640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1920240"/>
            <a:ext cx="438912" cy="43891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108960" y="193852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of Use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2587752" y="246888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technical expertise needed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2587752" y="306324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Simple mobile app interface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2587752" y="365760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Plug-and-play sensor setup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2587752" y="425196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Farmer can operate independently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4626864" y="1828800"/>
            <a:ext cx="1993392" cy="3200400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626864" y="1828800"/>
            <a:ext cx="1993392" cy="6400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1920240"/>
            <a:ext cx="438912" cy="43891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285232" y="193852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4764024" y="246888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Multiple units deployable per farm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4764024" y="306324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Modular — expand coverage easily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4764024" y="365760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Cloud-ready for central management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4764024" y="425196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Supports cooperative-level adoption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6803136" y="1828800"/>
            <a:ext cx="1993392" cy="3200400"/>
          </a:xfrm>
          <a:prstGeom prst="rect">
            <a:avLst/>
          </a:prstGeom>
          <a:solidFill>
            <a:srgbClr val="162A18"/>
          </a:solidFill>
          <a:ln w="12700">
            <a:solidFill>
              <a:srgbClr val="2A4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6803136" y="1828800"/>
            <a:ext cx="1993392" cy="64008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2864" y="1920240"/>
            <a:ext cx="438912" cy="43891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461504" y="193852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Upgradability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6940296" y="246888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OTA (Over-The-Air) software updates</a:t>
            </a:r>
            <a:endParaRPr lang="en-US" sz="950" dirty="0"/>
          </a:p>
        </p:txBody>
      </p:sp>
      <p:sp>
        <p:nvSpPr>
          <p:cNvPr id="37" name="Text 31"/>
          <p:cNvSpPr/>
          <p:nvPr/>
        </p:nvSpPr>
        <p:spPr>
          <a:xfrm>
            <a:off x="6940296" y="306324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Solar power add-on support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6940296" y="365760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Image recognition upgrade path</a:t>
            </a:r>
            <a:endParaRPr lang="en-US" sz="950" dirty="0"/>
          </a:p>
        </p:txBody>
      </p:sp>
      <p:sp>
        <p:nvSpPr>
          <p:cNvPr id="39" name="Text 33"/>
          <p:cNvSpPr/>
          <p:nvPr/>
        </p:nvSpPr>
        <p:spPr>
          <a:xfrm>
            <a:off x="6940296" y="425196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 analytics integration roadmap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408"/>
          </a:solidFill>
          <a:ln w="12700">
            <a:solidFill>
              <a:srgbClr val="0914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4CAF72"/>
          </a:solidFill>
          <a:ln w="12700">
            <a:solidFill>
              <a:srgbClr val="4CAF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rgbClr val="4CAF72"/>
          </a:solidFill>
          <a:ln w="12700">
            <a:solidFill>
              <a:srgbClr val="4CAF72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27432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1031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AgroSonic Defence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914400" y="2834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4CA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Farms. Empowering Farmers.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3200400" y="3337560"/>
            <a:ext cx="2743200" cy="457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34930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 •  Machine Learning  •  Embedded Systems  •  Smart Agriculture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Sairam Institute  | 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1497</Words>
  <Application>Microsoft Office PowerPoint</Application>
  <PresentationFormat>On-screen Show (16:9)</PresentationFormat>
  <Paragraphs>301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AgroSonic Defence</dc:title>
  <dc:subject>PptxGenJS Presentation</dc:subject>
  <dc:creator>Sri Sairam Institute</dc:creator>
  <cp:lastModifiedBy>Devitha R</cp:lastModifiedBy>
  <cp:revision>1</cp:revision>
  <dcterms:created xsi:type="dcterms:W3CDTF">2026-04-14T04:05:19Z</dcterms:created>
  <dcterms:modified xsi:type="dcterms:W3CDTF">2026-04-14T04:26:47Z</dcterms:modified>
</cp:coreProperties>
</file>